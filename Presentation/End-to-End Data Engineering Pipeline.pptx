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30.JPG" ContentType="image/jpeg"/>
  <Override PartName="/ppt/media/image31.JPG" ContentType="image/jpeg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74" r:id="rId9"/>
    <p:sldId id="275" r:id="rId10"/>
    <p:sldId id="268" r:id="rId11"/>
    <p:sldId id="269" r:id="rId12"/>
    <p:sldId id="261" r:id="rId13"/>
    <p:sldId id="270" r:id="rId14"/>
    <p:sldId id="271" r:id="rId15"/>
    <p:sldId id="272" r:id="rId16"/>
    <p:sldId id="273" r:id="rId17"/>
    <p:sldId id="265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9A"/>
    <a:srgbClr val="262626"/>
    <a:srgbClr val="96B55F"/>
    <a:srgbClr val="83A343"/>
    <a:srgbClr val="1A1A1A"/>
    <a:srgbClr val="403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3D1278-1198-4AA3-88EB-00F4ED0B7A5E}">
  <a:tblStyle styleId="{603D1278-1198-4AA3-88EB-00F4ED0B7A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629" autoAdjust="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357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43000" y="1364009"/>
            <a:ext cx="740092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20000"/>
              </a:lnSpc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End-to-End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Data Engineering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Pipeline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1228873"/>
            <a:ext cx="52006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600" b="1" i="0" u="none" strike="noStrike" cap="none" dirty="0">
                <a:solidFill>
                  <a:srgbClr val="96B55F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 dirty="0">
              <a:solidFill>
                <a:srgbClr val="96B55F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234654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This project implements a complete, automated ELT data pipeline for NYC Green Taxi trip records.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126134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Raw CSV files are ingested, stored, transformed, and modeled into a clean and performant star schema inside Snowflake.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01761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Challenge: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Raw taxi data is messy, inconsistent, and inefficient to query manually.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90909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Solution:</a:t>
            </a: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fully automated system for Ingestion → Transformation → Testing → Analytics.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438" y="1958737"/>
            <a:ext cx="2547937" cy="312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42126" y="1958737"/>
            <a:ext cx="2547937" cy="312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5814" y="1958737"/>
            <a:ext cx="2547937" cy="312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09501" y="1958737"/>
            <a:ext cx="2547937" cy="3124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90550" y="114300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90550" y="919798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92334" y="3206512"/>
            <a:ext cx="118014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Ingestion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03714" y="3793193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Automated loading of raw CSV files directly into Snowflake internal stages.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620970" y="3206512"/>
            <a:ext cx="199024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637401" y="3793193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Cleaning and modeling raw data into a Star Schema using dbt.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64709" y="3206512"/>
            <a:ext cx="117014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Analytics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71089" y="3793193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Power BI connects to transformed tables for business intelligence.</a:t>
            </a: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9B653-29F5-8BEC-5B58-4D0A8B03C412}"/>
              </a:ext>
            </a:extLst>
          </p:cNvPr>
          <p:cNvSpPr/>
          <p:nvPr/>
        </p:nvSpPr>
        <p:spPr>
          <a:xfrm>
            <a:off x="1471448" y="2364131"/>
            <a:ext cx="662152" cy="5756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6756C-2F47-0B6C-F71B-70F162CB3CA9}"/>
              </a:ext>
            </a:extLst>
          </p:cNvPr>
          <p:cNvSpPr/>
          <p:nvPr/>
        </p:nvSpPr>
        <p:spPr>
          <a:xfrm>
            <a:off x="4285018" y="2364131"/>
            <a:ext cx="662152" cy="5756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403360" y="3206512"/>
            <a:ext cx="176022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304776" y="3793193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Airflow schedules and manages the entire end-to-end workflow.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1907" y="2444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E6678A-9A50-75E2-F186-6B3F984D9129}"/>
              </a:ext>
            </a:extLst>
          </p:cNvPr>
          <p:cNvSpPr/>
          <p:nvPr/>
        </p:nvSpPr>
        <p:spPr>
          <a:xfrm>
            <a:off x="9948432" y="2334083"/>
            <a:ext cx="670074" cy="6018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77970" y="24445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45345" y="24445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2EB574-9BB3-35AD-5191-B793A6F1A951}"/>
              </a:ext>
            </a:extLst>
          </p:cNvPr>
          <p:cNvSpPr/>
          <p:nvPr/>
        </p:nvSpPr>
        <p:spPr>
          <a:xfrm>
            <a:off x="7122667" y="2337953"/>
            <a:ext cx="670074" cy="6018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78D34A-05ED-3AB8-EBEC-69C4D2A446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2498" y="2415967"/>
            <a:ext cx="534568" cy="4454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571500" y="186036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Technology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Stack</a:t>
            </a:r>
            <a:endParaRPr dirty="0"/>
          </a:p>
        </p:txBody>
      </p:sp>
      <p:sp>
        <p:nvSpPr>
          <p:cNvPr id="128" name="Google Shape;128;p16"/>
          <p:cNvSpPr/>
          <p:nvPr/>
        </p:nvSpPr>
        <p:spPr>
          <a:xfrm>
            <a:off x="580038" y="1057498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>
            <p:extLst>
              <p:ext uri="{D42A27DB-BD31-4B8C-83A1-F6EECF244321}">
                <p14:modId xmlns:p14="http://schemas.microsoft.com/office/powerpoint/2010/main" val="4070680715"/>
              </p:ext>
            </p:extLst>
          </p:nvPr>
        </p:nvGraphicFramePr>
        <p:xfrm>
          <a:off x="571500" y="1424948"/>
          <a:ext cx="11031921" cy="40593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67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accent3"/>
                          </a:solidFill>
                          <a:sym typeface="Urbanist"/>
                        </a:rPr>
                        <a:t>Layer</a:t>
                      </a:r>
                      <a:endParaRPr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accent3"/>
                          </a:solidFill>
                          <a:sym typeface="Urbanist"/>
                        </a:rPr>
                        <a:t>Technology</a:t>
                      </a:r>
                      <a:endParaRPr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accent3"/>
                          </a:solidFill>
                          <a:sym typeface="Urbanist"/>
                        </a:rPr>
                        <a:t>Role</a:t>
                      </a:r>
                      <a:endParaRPr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Orchestration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Apache Airflow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Schedules and triggers pipeline tasks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Data Warehouse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Snowflake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Scalable storage and compute engine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olidFill>
                            <a:schemeClr val="bg1"/>
                          </a:solidFill>
                          <a:sym typeface="Urbanist"/>
                        </a:rPr>
                        <a:t>Transformation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Data Build Tool (</a:t>
                      </a:r>
                      <a:r>
                        <a:rPr lang="en-US" sz="1350" u="none" strike="noStrike" cap="none" dirty="0" err="1">
                          <a:solidFill>
                            <a:schemeClr val="bg1"/>
                          </a:solidFill>
                          <a:sym typeface="Urbanist"/>
                        </a:rPr>
                        <a:t>dbt</a:t>
                      </a: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SQL-based data modeling and testing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Language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Python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Scripting and pipeline logic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olidFill>
                            <a:schemeClr val="bg1"/>
                          </a:solidFill>
                          <a:sym typeface="Urbanist"/>
                        </a:rPr>
                        <a:t>Visualization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Power BI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Interactive dashboards and reporting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71500" y="3445073"/>
            <a:ext cx="268500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256508" y="3445073"/>
            <a:ext cx="307077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327278" y="3445073"/>
            <a:ext cx="5293221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8;p16">
            <a:extLst>
              <a:ext uri="{FF2B5EF4-FFF2-40B4-BE49-F238E27FC236}">
                <a16:creationId xmlns:a16="http://schemas.microsoft.com/office/drawing/2014/main" id="{B39BE364-3E23-CA0C-B919-101B20ED22AD}"/>
              </a:ext>
            </a:extLst>
          </p:cNvPr>
          <p:cNvSpPr/>
          <p:nvPr/>
        </p:nvSpPr>
        <p:spPr>
          <a:xfrm>
            <a:off x="571500" y="2073772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n>
                <a:solidFill>
                  <a:schemeClr val="accent3"/>
                </a:solidFill>
              </a:ln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00" y="4109888"/>
            <a:ext cx="268500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256508" y="4109888"/>
            <a:ext cx="307077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327278" y="4109888"/>
            <a:ext cx="5293221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4774703"/>
            <a:ext cx="268500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256508" y="4774703"/>
            <a:ext cx="307077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327278" y="4774703"/>
            <a:ext cx="5293221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5439519"/>
            <a:ext cx="2685008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256508" y="5439519"/>
            <a:ext cx="307077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327278" y="5439519"/>
            <a:ext cx="5293221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5810" y="253509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9520" y="253509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73230" y="253509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6940" y="25350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151087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Pipeline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Workflow</a:t>
            </a:r>
            <a:endParaRPr dirty="0"/>
          </a:p>
        </p:txBody>
      </p:sp>
      <p:sp>
        <p:nvSpPr>
          <p:cNvPr id="157" name="Google Shape;157;p17"/>
          <p:cNvSpPr/>
          <p:nvPr/>
        </p:nvSpPr>
        <p:spPr>
          <a:xfrm>
            <a:off x="571500" y="942554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2725591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03328" y="3239941"/>
            <a:ext cx="246421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Extract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2000" y="3685681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Raw CSV files are stored in a local directory (source).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477037" y="3239941"/>
            <a:ext cx="246421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Load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535709" y="3685681"/>
            <a:ext cx="234687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Airflow uploads files to Snowflake Stage &amp; Copy Into raw tables.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250747" y="3239941"/>
            <a:ext cx="246421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309419" y="3685681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dbt cleans data, applies logic, and builds Fact/Dim tables.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024457" y="3239941"/>
            <a:ext cx="246421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Consumption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083129" y="3685681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Power BI connects to the Star Schema for analytics.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590550" y="131295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Star Schema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Model</a:t>
            </a:r>
            <a:endParaRPr dirty="0"/>
          </a:p>
        </p:txBody>
      </p:sp>
      <p:sp>
        <p:nvSpPr>
          <p:cNvPr id="189" name="Google Shape;189;p19"/>
          <p:cNvSpPr/>
          <p:nvPr/>
        </p:nvSpPr>
        <p:spPr>
          <a:xfrm>
            <a:off x="455886" y="879656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B6F3AEF-7E03-76DB-873E-295252895D35}"/>
              </a:ext>
            </a:extLst>
          </p:cNvPr>
          <p:cNvSpPr/>
          <p:nvPr/>
        </p:nvSpPr>
        <p:spPr>
          <a:xfrm>
            <a:off x="3750108" y="1938292"/>
            <a:ext cx="4633461" cy="32161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3"/>
                </a:solidFill>
              </a:rPr>
              <a:t>CENTRAL FACT Table </a:t>
            </a:r>
          </a:p>
          <a:p>
            <a:pPr algn="ctr"/>
            <a:r>
              <a:rPr lang="en-US" sz="1600" dirty="0"/>
              <a:t>Stores quantitative data for every trip. It houses key metrics like Fare, Tip, and Total Amount, enabling the calculation of revenue, averages, and financial performance.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EAB8B3-3EA8-1B05-AE45-083AA4B92559}"/>
              </a:ext>
            </a:extLst>
          </p:cNvPr>
          <p:cNvSpPr/>
          <p:nvPr/>
        </p:nvSpPr>
        <p:spPr>
          <a:xfrm>
            <a:off x="0" y="954019"/>
            <a:ext cx="3898309" cy="229371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3BAB7D-BF74-F86C-7AA3-882D78508438}"/>
              </a:ext>
            </a:extLst>
          </p:cNvPr>
          <p:cNvSpPr/>
          <p:nvPr/>
        </p:nvSpPr>
        <p:spPr>
          <a:xfrm>
            <a:off x="53868" y="4178559"/>
            <a:ext cx="3898309" cy="259581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</a:rPr>
              <a:t>TRIP DETAILS DIMENSIONS:</a:t>
            </a:r>
          </a:p>
          <a:p>
            <a:pPr algn="ctr"/>
            <a:r>
              <a:rPr lang="en-US" sz="1600" dirty="0"/>
              <a:t>These dimensions describe trip characteristics. They track Vendors, Rate Codes, Payment Types (Cash vs. Credit), and Passenger Counts, allowing for detailed segmentation of specific ride behavior.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7E8E84-7740-9A64-07A4-51B734D44886}"/>
              </a:ext>
            </a:extLst>
          </p:cNvPr>
          <p:cNvSpPr/>
          <p:nvPr/>
        </p:nvSpPr>
        <p:spPr>
          <a:xfrm>
            <a:off x="8148517" y="954019"/>
            <a:ext cx="4043483" cy="236277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</a:rPr>
              <a:t>GEOGRAPHY('</a:t>
            </a:r>
            <a:r>
              <a:rPr lang="en-US" sz="1600" dirty="0" err="1">
                <a:solidFill>
                  <a:schemeClr val="accent3"/>
                </a:solidFill>
              </a:rPr>
              <a:t>Locatio</a:t>
            </a:r>
            <a:r>
              <a:rPr lang="en-US" sz="1600" dirty="0">
                <a:solidFill>
                  <a:schemeClr val="accent3"/>
                </a:solidFill>
              </a:rPr>
              <a:t> Dim’)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Specific Pickup and </a:t>
            </a:r>
            <a:r>
              <a:rPr lang="en-US" sz="1600" dirty="0" err="1">
                <a:solidFill>
                  <a:schemeClr val="bg1"/>
                </a:solidFill>
              </a:rPr>
              <a:t>DropoffLocations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CECCF1-80CB-849D-4FC6-F2068DB9ACB4}"/>
              </a:ext>
            </a:extLst>
          </p:cNvPr>
          <p:cNvSpPr/>
          <p:nvPr/>
        </p:nvSpPr>
        <p:spPr>
          <a:xfrm>
            <a:off x="8023626" y="4111930"/>
            <a:ext cx="4110052" cy="281543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</a:rPr>
              <a:t>SURROUNDING DIMENSIONS :</a:t>
            </a:r>
          </a:p>
          <a:p>
            <a:pPr algn="ctr"/>
            <a:r>
              <a:rPr lang="en-US" sz="1600" dirty="0"/>
              <a:t>Eight dimension tables surround the center to provide context. They are essential for filtering, grouping, and slicing the raw quantitative numbers into meaningful business insights.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9B73E-9A6D-CA66-C5D1-E7F6A919AE7E}"/>
              </a:ext>
            </a:extLst>
          </p:cNvPr>
          <p:cNvSpPr txBox="1"/>
          <p:nvPr/>
        </p:nvSpPr>
        <p:spPr>
          <a:xfrm>
            <a:off x="437209" y="1392989"/>
            <a:ext cx="345570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DATE &amp; TIME ('</a:t>
            </a:r>
            <a:r>
              <a:rPr lang="en-US" sz="1600" dirty="0" err="1">
                <a:solidFill>
                  <a:schemeClr val="accent3"/>
                </a:solidFill>
              </a:rPr>
              <a:t>Date_Dim</a:t>
            </a:r>
            <a:r>
              <a:rPr lang="en-US" sz="1600" dirty="0">
                <a:solidFill>
                  <a:schemeClr val="accent3"/>
                </a:solidFill>
              </a:rPr>
              <a:t>’)</a:t>
            </a:r>
          </a:p>
          <a:p>
            <a:r>
              <a:rPr lang="en-US" dirty="0">
                <a:solidFill>
                  <a:schemeClr val="bg1"/>
                </a:solidFill>
              </a:rPr>
              <a:t>This table acts as the project calendar. It enables trend analysis, allowing us to filter performance by Year, Month, Day, or specific Pickup and Dropoff timestamps.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837358-F239-3AA2-9332-2391BE30710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923015" y="2064038"/>
            <a:ext cx="505648" cy="345253"/>
          </a:xfrm>
          <a:prstGeom prst="straightConnector1">
            <a:avLst/>
          </a:prstGeom>
          <a:ln w="82550">
            <a:solidFill>
              <a:schemeClr val="accent3"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4294BE-6E31-1D40-111E-7ABC1625E3FB}"/>
              </a:ext>
            </a:extLst>
          </p:cNvPr>
          <p:cNvCxnSpPr>
            <a:cxnSpLocks/>
          </p:cNvCxnSpPr>
          <p:nvPr/>
        </p:nvCxnSpPr>
        <p:spPr>
          <a:xfrm flipV="1">
            <a:off x="7606795" y="2064038"/>
            <a:ext cx="684529" cy="266520"/>
          </a:xfrm>
          <a:prstGeom prst="straightConnector1">
            <a:avLst/>
          </a:prstGeom>
          <a:ln w="82550">
            <a:solidFill>
              <a:schemeClr val="accent3"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AD8B97-76FB-1032-37D2-1E459822F3E7}"/>
              </a:ext>
            </a:extLst>
          </p:cNvPr>
          <p:cNvCxnSpPr>
            <a:cxnSpLocks/>
          </p:cNvCxnSpPr>
          <p:nvPr/>
        </p:nvCxnSpPr>
        <p:spPr>
          <a:xfrm>
            <a:off x="8023625" y="4365902"/>
            <a:ext cx="432399" cy="481258"/>
          </a:xfrm>
          <a:prstGeom prst="straightConnector1">
            <a:avLst/>
          </a:prstGeom>
          <a:ln w="82550">
            <a:solidFill>
              <a:schemeClr val="accent3"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50E820-6532-2D28-AD1E-BDE09FFD615B}"/>
              </a:ext>
            </a:extLst>
          </p:cNvPr>
          <p:cNvCxnSpPr>
            <a:cxnSpLocks/>
          </p:cNvCxnSpPr>
          <p:nvPr/>
        </p:nvCxnSpPr>
        <p:spPr>
          <a:xfrm flipH="1">
            <a:off x="3558704" y="4406052"/>
            <a:ext cx="516969" cy="290639"/>
          </a:xfrm>
          <a:prstGeom prst="straightConnector1">
            <a:avLst/>
          </a:prstGeom>
          <a:ln w="82550">
            <a:solidFill>
              <a:schemeClr val="accent3"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75EC-3BC6-4E4D-11BF-86035771A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A6681-6A57-3D94-5BB5-DF4275AE17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D405D-1187-5B28-6169-BD7F59983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09"/>
            <a:ext cx="12192001" cy="59061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4D1DC-026C-933F-9B42-7FE334D5E7F2}"/>
              </a:ext>
            </a:extLst>
          </p:cNvPr>
          <p:cNvSpPr txBox="1"/>
          <p:nvPr/>
        </p:nvSpPr>
        <p:spPr>
          <a:xfrm>
            <a:off x="0" y="18710"/>
            <a:ext cx="6096000" cy="69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3600" dirty="0">
                <a:solidFill>
                  <a:schemeClr val="bg1"/>
                </a:solidFill>
              </a:rPr>
              <a:t>Design</a:t>
            </a:r>
            <a:r>
              <a:rPr lang="en-US" sz="3600" dirty="0">
                <a:solidFill>
                  <a:schemeClr val="accent3"/>
                </a:solidFill>
              </a:rPr>
              <a:t> </a:t>
            </a:r>
            <a:r>
              <a:rPr lang="en-US" sz="3600" dirty="0">
                <a:solidFill>
                  <a:srgbClr val="DEFF9A"/>
                </a:solidFill>
              </a:rPr>
              <a:t>Star Schema</a:t>
            </a:r>
          </a:p>
        </p:txBody>
      </p:sp>
      <p:sp>
        <p:nvSpPr>
          <p:cNvPr id="11" name="Google Shape;189;p19">
            <a:extLst>
              <a:ext uri="{FF2B5EF4-FFF2-40B4-BE49-F238E27FC236}">
                <a16:creationId xmlns:a16="http://schemas.microsoft.com/office/drawing/2014/main" id="{B6BEF9CF-CA88-CCA0-BEAC-3C203CAF9D8C}"/>
              </a:ext>
            </a:extLst>
          </p:cNvPr>
          <p:cNvSpPr/>
          <p:nvPr/>
        </p:nvSpPr>
        <p:spPr>
          <a:xfrm>
            <a:off x="359515" y="637834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781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7;p13">
            <a:extLst>
              <a:ext uri="{FF2B5EF4-FFF2-40B4-BE49-F238E27FC236}">
                <a16:creationId xmlns:a16="http://schemas.microsoft.com/office/drawing/2014/main" id="{095C314F-D88D-812D-1110-8B996F3189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1120666"/>
            <a:ext cx="85725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0;p13">
            <a:extLst>
              <a:ext uri="{FF2B5EF4-FFF2-40B4-BE49-F238E27FC236}">
                <a16:creationId xmlns:a16="http://schemas.microsoft.com/office/drawing/2014/main" id="{732DECC4-B349-1B03-2A0E-B56365905C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0" y="3133725"/>
            <a:ext cx="571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39C069-6344-074A-DF31-B5E40D1A4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786" y="3025105"/>
            <a:ext cx="784928" cy="8077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B3D23A-42F6-C630-34B1-A2EB31EBCE93}"/>
              </a:ext>
            </a:extLst>
          </p:cNvPr>
          <p:cNvSpPr txBox="1"/>
          <p:nvPr/>
        </p:nvSpPr>
        <p:spPr>
          <a:xfrm>
            <a:off x="392464" y="6112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2800" b="1" i="0" dirty="0">
                <a:solidFill>
                  <a:srgbClr val="FFFFFF"/>
                </a:solidFill>
                <a:effectLst/>
                <a:latin typeface="Urbanist" panose="020B0604020202020204" charset="0"/>
              </a:rPr>
              <a:t>Data Warehousing</a:t>
            </a:r>
            <a:r>
              <a:rPr lang="en-US" sz="2800" b="1" dirty="0">
                <a:solidFill>
                  <a:srgbClr val="FFFFFF"/>
                </a:solidFill>
                <a:latin typeface="Urbanist" panose="020B0604020202020204" charset="0"/>
              </a:rPr>
              <a:t> with </a:t>
            </a:r>
            <a:r>
              <a:rPr lang="en-US" sz="2800" b="1" dirty="0">
                <a:solidFill>
                  <a:srgbClr val="DEFF9A"/>
                </a:solidFill>
                <a:latin typeface="Urbanist" panose="020B0604020202020204" charset="0"/>
              </a:rPr>
              <a:t>Snowflake</a:t>
            </a:r>
            <a:br>
              <a:rPr lang="en-US" sz="2800" b="1" i="0" dirty="0">
                <a:solidFill>
                  <a:srgbClr val="FFFFFF"/>
                </a:solidFill>
                <a:effectLst/>
                <a:latin typeface="Urbanist" panose="020B0604020202020204" charset="0"/>
              </a:rPr>
            </a:br>
            <a:endParaRPr lang="en-US" sz="2800" b="1" i="0" dirty="0">
              <a:solidFill>
                <a:srgbClr val="FFFFFF"/>
              </a:solidFill>
              <a:effectLst/>
              <a:latin typeface="Urbanist" panose="020B0604020202020204" charset="0"/>
            </a:endParaRPr>
          </a:p>
        </p:txBody>
      </p:sp>
      <p:sp>
        <p:nvSpPr>
          <p:cNvPr id="17" name="Google Shape;189;p19">
            <a:extLst>
              <a:ext uri="{FF2B5EF4-FFF2-40B4-BE49-F238E27FC236}">
                <a16:creationId xmlns:a16="http://schemas.microsoft.com/office/drawing/2014/main" id="{CC28D637-5510-2D98-0CD1-C5FD00E570DD}"/>
              </a:ext>
            </a:extLst>
          </p:cNvPr>
          <p:cNvSpPr/>
          <p:nvPr/>
        </p:nvSpPr>
        <p:spPr>
          <a:xfrm>
            <a:off x="319251" y="732716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85;p13" descr="image.png">
            <a:extLst>
              <a:ext uri="{FF2B5EF4-FFF2-40B4-BE49-F238E27FC236}">
                <a16:creationId xmlns:a16="http://schemas.microsoft.com/office/drawing/2014/main" id="{D2CA36AE-515D-A4F3-7A0B-6DC2FB9C69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675" y="4718815"/>
            <a:ext cx="3413236" cy="14904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543474-C159-1555-07D5-9F6E2782268D}"/>
              </a:ext>
            </a:extLst>
          </p:cNvPr>
          <p:cNvSpPr txBox="1"/>
          <p:nvPr/>
        </p:nvSpPr>
        <p:spPr>
          <a:xfrm>
            <a:off x="917034" y="4824247"/>
            <a:ext cx="3055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Warehouse (Compute):</a:t>
            </a:r>
            <a:br>
              <a:rPr lang="en-US" dirty="0"/>
            </a:br>
            <a:r>
              <a:rPr lang="en-US" sz="16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TAXI_DRIVER_WH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 handles the heavy lifting for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Urbanist" panose="020B0604020202020204" charset="0"/>
              </a:rPr>
              <a:t>dbt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 transformations without impacting storage</a:t>
            </a:r>
            <a:r>
              <a:rPr lang="en-US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4" name="Google Shape;85;p13" descr="image.png">
            <a:extLst>
              <a:ext uri="{FF2B5EF4-FFF2-40B4-BE49-F238E27FC236}">
                <a16:creationId xmlns:a16="http://schemas.microsoft.com/office/drawing/2014/main" id="{95587C96-C480-FA36-3B1A-DF123AC81E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6841" y="4718815"/>
            <a:ext cx="3804745" cy="14904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6FA33D7-AEAE-6A2E-1B06-4BC38E448552}"/>
              </a:ext>
            </a:extLst>
          </p:cNvPr>
          <p:cNvSpPr txBox="1"/>
          <p:nvPr/>
        </p:nvSpPr>
        <p:spPr>
          <a:xfrm>
            <a:off x="8342586" y="4762691"/>
            <a:ext cx="3289739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Database (Storage):</a:t>
            </a:r>
            <a:br>
              <a:rPr lang="en-US" dirty="0"/>
            </a:br>
            <a:r>
              <a:rPr lang="en-US" sz="16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TAXI_DRIVER_DB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 serves as the centralized repository for both raw staging tables and the final Star Schema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8FB73C-0C8A-2CA7-FA23-AAFD0709B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242" y="4824247"/>
            <a:ext cx="274344" cy="2895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40FE88-B8B2-64CB-CAB3-5F0186BAEB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93" y="4901271"/>
            <a:ext cx="333441" cy="285807"/>
          </a:xfrm>
          <a:prstGeom prst="rect">
            <a:avLst/>
          </a:prstGeom>
        </p:spPr>
      </p:pic>
      <p:pic>
        <p:nvPicPr>
          <p:cNvPr id="31" name="Google Shape;85;p13" descr="image.png">
            <a:extLst>
              <a:ext uri="{FF2B5EF4-FFF2-40B4-BE49-F238E27FC236}">
                <a16:creationId xmlns:a16="http://schemas.microsoft.com/office/drawing/2014/main" id="{822710B4-AE50-6B19-30B1-EF3E603CD7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56993" y="883431"/>
            <a:ext cx="3668111" cy="13849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87C0131-616C-1AD4-FC5B-E1B41C161E45}"/>
              </a:ext>
            </a:extLst>
          </p:cNvPr>
          <p:cNvSpPr txBox="1"/>
          <p:nvPr/>
        </p:nvSpPr>
        <p:spPr>
          <a:xfrm>
            <a:off x="4429124" y="849388"/>
            <a:ext cx="32959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Internal Stage:</a:t>
            </a:r>
            <a:br>
              <a:rPr lang="en-US" dirty="0"/>
            </a:br>
            <a:r>
              <a:rPr lang="en-US" sz="16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@taxi_stage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 acts as the secure landing zone where Airflow pushes raw CSV files before loading.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1752F4F-A916-F03C-9B87-5C13999B51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4780" y="896929"/>
            <a:ext cx="274344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86971-2518-3E69-B873-5D3CFAF66DC4}"/>
              </a:ext>
            </a:extLst>
          </p:cNvPr>
          <p:cNvSpPr txBox="1"/>
          <p:nvPr/>
        </p:nvSpPr>
        <p:spPr>
          <a:xfrm>
            <a:off x="336331" y="1141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Snowflake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DEFF9A"/>
                </a:solidFill>
              </a:rPr>
              <a:t>Environment Setup</a:t>
            </a:r>
          </a:p>
        </p:txBody>
      </p:sp>
      <p:sp>
        <p:nvSpPr>
          <p:cNvPr id="4" name="Google Shape;189;p19">
            <a:extLst>
              <a:ext uri="{FF2B5EF4-FFF2-40B4-BE49-F238E27FC236}">
                <a16:creationId xmlns:a16="http://schemas.microsoft.com/office/drawing/2014/main" id="{437A496A-A091-056C-7E96-D95A33F6CB16}"/>
              </a:ext>
            </a:extLst>
          </p:cNvPr>
          <p:cNvSpPr/>
          <p:nvPr/>
        </p:nvSpPr>
        <p:spPr>
          <a:xfrm>
            <a:off x="319251" y="732716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black screen with white text">
            <a:extLst>
              <a:ext uri="{FF2B5EF4-FFF2-40B4-BE49-F238E27FC236}">
                <a16:creationId xmlns:a16="http://schemas.microsoft.com/office/drawing/2014/main" id="{D84DC7B5-EF6E-FA43-E279-8B71CB7D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582"/>
            <a:ext cx="12097407" cy="607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97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F93DD6-B0A3-BF3F-8AA7-5DB42011FA26}"/>
              </a:ext>
            </a:extLst>
          </p:cNvPr>
          <p:cNvSpPr txBox="1"/>
          <p:nvPr/>
        </p:nvSpPr>
        <p:spPr>
          <a:xfrm>
            <a:off x="231227" y="185970"/>
            <a:ext cx="6096000" cy="141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lang="en-US" sz="3600" b="1" dirty="0">
                <a:solidFill>
                  <a:srgbClr val="F8FAFC"/>
                </a:solidFill>
                <a:latin typeface="Urbanist" panose="020B060402020202020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Urbanist" panose="020B0604020202020204" charset="0"/>
              </a:rPr>
              <a:t>Data Build Tool</a:t>
            </a:r>
            <a:r>
              <a:rPr lang="en-US" sz="3600" b="1" dirty="0">
                <a:solidFill>
                  <a:srgbClr val="F8FAFC"/>
                </a:solidFill>
                <a:latin typeface="Urbanist" panose="020B0604020202020204" charset="0"/>
              </a:rPr>
              <a:t> </a:t>
            </a:r>
            <a:r>
              <a:rPr lang="en-US" sz="3600" b="1" dirty="0">
                <a:solidFill>
                  <a:srgbClr val="DEFF9A"/>
                </a:solidFill>
                <a:latin typeface="Urbanist" panose="020B0604020202020204" charset="0"/>
              </a:rPr>
              <a:t>(DBT)</a:t>
            </a:r>
          </a:p>
          <a:p>
            <a:pPr>
              <a:buNone/>
            </a:pPr>
            <a:br>
              <a:rPr lang="en-US" dirty="0">
                <a:solidFill>
                  <a:srgbClr val="DEFF9A"/>
                </a:solidFill>
              </a:rPr>
            </a:br>
            <a:endParaRPr lang="en-US" dirty="0">
              <a:solidFill>
                <a:srgbClr val="DEFF9A"/>
              </a:solidFill>
            </a:endParaRPr>
          </a:p>
          <a:p>
            <a:pPr lvl="0">
              <a:lnSpc>
                <a:spcPct val="120000"/>
              </a:lnSpc>
            </a:pPr>
            <a:endParaRPr lang="en-US" dirty="0"/>
          </a:p>
        </p:txBody>
      </p:sp>
      <p:sp>
        <p:nvSpPr>
          <p:cNvPr id="6" name="Google Shape;189;p19">
            <a:extLst>
              <a:ext uri="{FF2B5EF4-FFF2-40B4-BE49-F238E27FC236}">
                <a16:creationId xmlns:a16="http://schemas.microsoft.com/office/drawing/2014/main" id="{EA8CCCCC-3E74-8BBF-2054-AE9EF7EBF83B}"/>
              </a:ext>
            </a:extLst>
          </p:cNvPr>
          <p:cNvSpPr/>
          <p:nvPr/>
        </p:nvSpPr>
        <p:spPr>
          <a:xfrm>
            <a:off x="319251" y="732716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9BBDA-06E3-7141-A07F-AFD31381B0D9}"/>
              </a:ext>
            </a:extLst>
          </p:cNvPr>
          <p:cNvSpPr txBox="1"/>
          <p:nvPr/>
        </p:nvSpPr>
        <p:spPr>
          <a:xfrm>
            <a:off x="777766" y="140448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/>
                </a:solidFill>
              </a:rPr>
              <a:t>The "T" in ELT</a:t>
            </a:r>
            <a:endParaRPr lang="en-US" sz="1800" dirty="0">
              <a:solidFill>
                <a:schemeClr val="accent3"/>
              </a:solidFill>
            </a:endParaRPr>
          </a:p>
          <a:p>
            <a:endParaRPr lang="en-US" sz="1400" b="0" i="0" u="none" strike="noStrike" dirty="0">
              <a:solidFill>
                <a:schemeClr val="bg1"/>
              </a:solidFill>
              <a:effectLst/>
              <a:latin typeface="Urbanist" panose="020B0604020202020204" charset="0"/>
            </a:endParaRPr>
          </a:p>
          <a:p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Urbanist" panose="020B0604020202020204" charset="0"/>
              </a:rPr>
              <a:t>Executes transformations strictly </a:t>
            </a:r>
            <a:r>
              <a:rPr lang="en-US" sz="1600" b="0" i="1" u="none" strike="noStrike" dirty="0">
                <a:solidFill>
                  <a:schemeClr val="bg1"/>
                </a:solidFill>
                <a:effectLst/>
                <a:latin typeface="Urbanist" panose="020B0604020202020204" charset="0"/>
              </a:rPr>
              <a:t>after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Urbanist" panose="020B0604020202020204" charset="0"/>
              </a:rPr>
              <a:t> data is loaded into the warehouse, leveraging the compute power of modern platforms like Snowflake or </a:t>
            </a:r>
            <a:r>
              <a:rPr lang="en-US" sz="1600" b="0" i="0" u="none" strike="noStrike" dirty="0" err="1">
                <a:solidFill>
                  <a:schemeClr val="bg1"/>
                </a:solidFill>
                <a:effectLst/>
                <a:latin typeface="Urbanist" panose="020B0604020202020204" charset="0"/>
              </a:rPr>
              <a:t>BigQuery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Urbanist" panose="020B0604020202020204" charset="0"/>
              </a:rPr>
              <a:t>.</a:t>
            </a:r>
            <a:endParaRPr lang="en-US" sz="16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9769D-4AF5-3FCC-E35D-ADD1C8ED1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0" y="1437800"/>
            <a:ext cx="315056" cy="3580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C72A23-2A0D-F36A-B126-815B35DDC926}"/>
              </a:ext>
            </a:extLst>
          </p:cNvPr>
          <p:cNvSpPr txBox="1"/>
          <p:nvPr/>
        </p:nvSpPr>
        <p:spPr>
          <a:xfrm>
            <a:off x="777766" y="3059668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chemeClr val="accent3"/>
                </a:solidFill>
                <a:effectLst/>
                <a:latin typeface="Urbanist" panose="020B0604020202020204" charset="0"/>
              </a:rPr>
              <a:t>SQL-First Development</a:t>
            </a:r>
            <a:endParaRPr lang="en-US" sz="1800" b="0" dirty="0">
              <a:solidFill>
                <a:schemeClr val="accent3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B897DB-E1FB-57E8-8A0F-2563D0A94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95" y="3099673"/>
            <a:ext cx="465485" cy="3293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DCC9F12-6818-ADE7-8500-D6BA922C7EA8}"/>
              </a:ext>
            </a:extLst>
          </p:cNvPr>
          <p:cNvSpPr txBox="1"/>
          <p:nvPr/>
        </p:nvSpPr>
        <p:spPr>
          <a:xfrm>
            <a:off x="777766" y="349118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Allows analysts to write complex business logic using simple 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 statements, while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Urbanist" panose="020B0604020202020204" charset="0"/>
              </a:rPr>
              <a:t>dbt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 handles the DDL (table/view creation) automatically.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65A810-F834-4913-257A-C882B21A477E}"/>
              </a:ext>
            </a:extLst>
          </p:cNvPr>
          <p:cNvSpPr txBox="1"/>
          <p:nvPr/>
        </p:nvSpPr>
        <p:spPr>
          <a:xfrm>
            <a:off x="777766" y="5285003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Urbanist" panose="020B0604020202020204" charset="0"/>
              </a:rPr>
              <a:t>Automatically generates data lineage graphs and data dictionary documentation, ensuring transparency and trust in the data pipeline.</a:t>
            </a:r>
            <a:endParaRPr lang="en-US" sz="16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9652E6-CA68-1276-283C-9F9B7BECDF5B}"/>
              </a:ext>
            </a:extLst>
          </p:cNvPr>
          <p:cNvSpPr txBox="1"/>
          <p:nvPr/>
        </p:nvSpPr>
        <p:spPr>
          <a:xfrm>
            <a:off x="777766" y="4734342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chemeClr val="accent3"/>
                </a:solidFill>
                <a:effectLst/>
                <a:latin typeface="Urbanist" panose="020B0604020202020204" charset="0"/>
              </a:rPr>
              <a:t>Auto-Documentation</a:t>
            </a:r>
            <a:endParaRPr lang="en-US" sz="1800" b="0" dirty="0">
              <a:solidFill>
                <a:schemeClr val="accent3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9660F0-10FB-1669-5279-26BE54FC1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67" y="4732855"/>
            <a:ext cx="358739" cy="34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3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B42C7-BFA8-E63E-4311-7D8376A36BC1}"/>
              </a:ext>
            </a:extLst>
          </p:cNvPr>
          <p:cNvSpPr txBox="1"/>
          <p:nvPr/>
        </p:nvSpPr>
        <p:spPr>
          <a:xfrm>
            <a:off x="409904" y="0"/>
            <a:ext cx="6096000" cy="69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3600" dirty="0">
                <a:solidFill>
                  <a:schemeClr val="bg1"/>
                </a:solidFill>
              </a:rPr>
              <a:t>DBT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DEFF9A"/>
                </a:solidFill>
              </a:rPr>
              <a:t>Data lineage graph</a:t>
            </a:r>
          </a:p>
        </p:txBody>
      </p:sp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DA04FCDF-9F1C-6147-62E1-087620055C8F}"/>
              </a:ext>
            </a:extLst>
          </p:cNvPr>
          <p:cNvSpPr/>
          <p:nvPr/>
        </p:nvSpPr>
        <p:spPr>
          <a:xfrm>
            <a:off x="571500" y="686499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CCC2E9-A4AC-24E5-C12E-6B6454E78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79264"/>
            <a:ext cx="11049000" cy="564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Pipeline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 dirty="0"/>
          </a:p>
        </p:txBody>
      </p:sp>
      <p:sp>
        <p:nvSpPr>
          <p:cNvPr id="173" name="Google Shape;173;p18"/>
          <p:cNvSpPr/>
          <p:nvPr/>
        </p:nvSpPr>
        <p:spPr>
          <a:xfrm>
            <a:off x="571500" y="131058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30DD-3CD3-E009-0002-3DA7524BE609}"/>
              </a:ext>
            </a:extLst>
          </p:cNvPr>
          <p:cNvSpPr txBox="1"/>
          <p:nvPr/>
        </p:nvSpPr>
        <p:spPr>
          <a:xfrm>
            <a:off x="714703" y="1832584"/>
            <a:ext cx="62536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Centralized Control</a:t>
            </a:r>
          </a:p>
          <a:p>
            <a:br>
              <a:rPr lang="en-US" dirty="0"/>
            </a:br>
            <a:r>
              <a:rPr lang="en-US" sz="18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Airflow acts as the heartbeat of the pipeline, orchestrating every step from raw data ingestion to final transformation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12682-2B95-9EAC-F4A5-70C88C1AB4C5}"/>
              </a:ext>
            </a:extLst>
          </p:cNvPr>
          <p:cNvSpPr txBox="1"/>
          <p:nvPr/>
        </p:nvSpPr>
        <p:spPr>
          <a:xfrm>
            <a:off x="714703" y="3321339"/>
            <a:ext cx="664253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DAG Visualization</a:t>
            </a:r>
            <a:br>
              <a:rPr lang="en-US" dirty="0"/>
            </a:br>
            <a:r>
              <a:rPr lang="en-US" sz="18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The DAG (Directed Acyclic Graph) clearly visualizes dependencies. For instance, </a:t>
            </a:r>
            <a:r>
              <a:rPr lang="en-US" sz="1800" b="0" i="1" dirty="0" err="1">
                <a:solidFill>
                  <a:schemeClr val="bg1"/>
                </a:solidFill>
                <a:effectLst/>
                <a:latin typeface="Urbanist" panose="020B0604020202020204" charset="0"/>
              </a:rPr>
              <a:t>dbt_transformation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 is strictly dependent on the success of </a:t>
            </a:r>
            <a:r>
              <a:rPr lang="en-US" sz="1800" b="0" i="1" dirty="0" err="1">
                <a:solidFill>
                  <a:schemeClr val="bg1"/>
                </a:solidFill>
                <a:effectLst/>
                <a:latin typeface="Urbanist" panose="020B0604020202020204" charset="0"/>
              </a:rPr>
              <a:t>snowflake_stage</a:t>
            </a:r>
            <a:r>
              <a:rPr lang="en-US" sz="1800" b="0" i="0" dirty="0">
                <a:solidFill>
                  <a:srgbClr val="E0E0E0"/>
                </a:solidFill>
                <a:effectLst/>
                <a:latin typeface="Urbanist" panose="020B0604020202020204" charset="0"/>
              </a:rPr>
              <a:t>.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324DF-0448-3560-138E-555546EBF09C}"/>
              </a:ext>
            </a:extLst>
          </p:cNvPr>
          <p:cNvSpPr txBox="1"/>
          <p:nvPr/>
        </p:nvSpPr>
        <p:spPr>
          <a:xfrm>
            <a:off x="793529" y="5003369"/>
            <a:ext cx="6563711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Real-Time Monitoring</a:t>
            </a:r>
            <a:br>
              <a:rPr lang="en-US" b="0" i="0" dirty="0">
                <a:solidFill>
                  <a:srgbClr val="E0E0E0"/>
                </a:solidFill>
                <a:effectLst/>
                <a:latin typeface="Urbanist" panose="020B0604020202020204" charset="0"/>
              </a:rPr>
            </a:br>
            <a:r>
              <a:rPr lang="en-US" sz="18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The UI provides instant visibility into task success, failure logs, and execution duration, ensuring high reliability and rapid debugging.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B0328F-83C4-8456-D065-503AD45C5C49}"/>
              </a:ext>
            </a:extLst>
          </p:cNvPr>
          <p:cNvSpPr txBox="1"/>
          <p:nvPr/>
        </p:nvSpPr>
        <p:spPr>
          <a:xfrm>
            <a:off x="357351" y="136006"/>
            <a:ext cx="6096000" cy="69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3600" dirty="0">
                <a:solidFill>
                  <a:schemeClr val="bg1"/>
                </a:solidFill>
              </a:rPr>
              <a:t>DAG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DEFF9A"/>
                </a:solidFill>
              </a:rPr>
              <a:t>Workflow Visualization</a:t>
            </a:r>
          </a:p>
        </p:txBody>
      </p:sp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45236F92-4D62-74F2-87AC-3A33C4B8CF4F}"/>
              </a:ext>
            </a:extLst>
          </p:cNvPr>
          <p:cNvSpPr/>
          <p:nvPr/>
        </p:nvSpPr>
        <p:spPr>
          <a:xfrm>
            <a:off x="472965" y="83203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80AB3-B157-645F-A2AC-F009B039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7754"/>
            <a:ext cx="12192000" cy="59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2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057DBC-75FF-0CAF-42A3-B55A681B6358}"/>
              </a:ext>
            </a:extLst>
          </p:cNvPr>
          <p:cNvSpPr txBox="1"/>
          <p:nvPr/>
        </p:nvSpPr>
        <p:spPr>
          <a:xfrm>
            <a:off x="394138" y="164058"/>
            <a:ext cx="11403724" cy="204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3600" b="1" dirty="0">
                <a:solidFill>
                  <a:srgbClr val="FFFFFF"/>
                </a:solidFill>
                <a:latin typeface="Urbanist" panose="020B0604020202020204" charset="0"/>
              </a:rPr>
              <a:t>Analytics with </a:t>
            </a:r>
            <a:r>
              <a:rPr lang="en-US" sz="3600" b="1" dirty="0">
                <a:solidFill>
                  <a:srgbClr val="DEFF9A"/>
                </a:solidFill>
                <a:latin typeface="Urbanist" panose="020B0604020202020204" charset="0"/>
              </a:rPr>
              <a:t>Power BI</a:t>
            </a:r>
            <a:endParaRPr lang="en-US" sz="3600" b="1" dirty="0">
              <a:solidFill>
                <a:srgbClr val="FFFFFF"/>
              </a:solidFill>
              <a:latin typeface="Urbanist" panose="020B0604020202020204" charset="0"/>
            </a:endParaRPr>
          </a:p>
          <a:p>
            <a:pPr>
              <a:spcAft>
                <a:spcPts val="2250"/>
              </a:spcAft>
            </a:pPr>
            <a:br>
              <a:rPr lang="en-US" sz="3600" b="1" dirty="0">
                <a:solidFill>
                  <a:srgbClr val="FFFFFF"/>
                </a:solidFill>
                <a:latin typeface="Urbanist" panose="020B0604020202020204" charset="0"/>
              </a:rPr>
            </a:br>
            <a:r>
              <a:rPr lang="en-US" sz="3600" b="1" dirty="0">
                <a:solidFill>
                  <a:srgbClr val="FFFFFF"/>
                </a:solidFill>
                <a:latin typeface="Urbanist" panose="020B0604020202020204" charset="0"/>
              </a:rPr>
              <a:t>   </a:t>
            </a:r>
            <a:endParaRPr lang="en-US" sz="3600" b="1" i="0" dirty="0">
              <a:solidFill>
                <a:srgbClr val="FFFFFF"/>
              </a:solidFill>
              <a:effectLst/>
              <a:latin typeface="Urbanist" panose="020B0604020202020204" charset="0"/>
            </a:endParaRPr>
          </a:p>
        </p:txBody>
      </p:sp>
      <p:sp>
        <p:nvSpPr>
          <p:cNvPr id="4" name="Google Shape;173;p18">
            <a:extLst>
              <a:ext uri="{FF2B5EF4-FFF2-40B4-BE49-F238E27FC236}">
                <a16:creationId xmlns:a16="http://schemas.microsoft.com/office/drawing/2014/main" id="{B72C6316-E638-A627-E172-1944E50CAEE0}"/>
              </a:ext>
            </a:extLst>
          </p:cNvPr>
          <p:cNvSpPr/>
          <p:nvPr/>
        </p:nvSpPr>
        <p:spPr>
          <a:xfrm>
            <a:off x="394138" y="816594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B6C4-99C0-B4E2-14C4-EACB8F6B343A}"/>
              </a:ext>
            </a:extLst>
          </p:cNvPr>
          <p:cNvSpPr txBox="1"/>
          <p:nvPr/>
        </p:nvSpPr>
        <p:spPr>
          <a:xfrm>
            <a:off x="394138" y="1478655"/>
            <a:ext cx="69578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Direct Integration</a:t>
            </a:r>
            <a:br>
              <a:rPr lang="en-US" dirty="0"/>
            </a:br>
            <a:r>
              <a:rPr lang="en-US" sz="20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Power BI connects natively to Snowflake, leveraging the compute power of the data warehouse to query the transformed Star Schema in real-time.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A74CE-8E4D-B9EA-6E7D-F33F0E356D91}"/>
              </a:ext>
            </a:extLst>
          </p:cNvPr>
          <p:cNvSpPr txBox="1"/>
          <p:nvPr/>
        </p:nvSpPr>
        <p:spPr>
          <a:xfrm>
            <a:off x="357352" y="322894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Actionable Insights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B472A-BBF9-0A20-90E8-071BF8034FD3}"/>
              </a:ext>
            </a:extLst>
          </p:cNvPr>
          <p:cNvSpPr txBox="1"/>
          <p:nvPr/>
        </p:nvSpPr>
        <p:spPr>
          <a:xfrm>
            <a:off x="283779" y="3809665"/>
            <a:ext cx="6516414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Operations Dashboard</a:t>
            </a:r>
            <a:r>
              <a:rPr lang="en-US" sz="24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:</a:t>
            </a:r>
            <a:r>
              <a:rPr lang="en-US" sz="2400" b="0" i="0" dirty="0">
                <a:solidFill>
                  <a:srgbClr val="E0E0E0"/>
                </a:solidFill>
                <a:effectLst/>
                <a:latin typeface="Urbanist" panose="020B0604020202020204" charset="0"/>
              </a:rPr>
              <a:t>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Monitor daily trip volume, peak hours, and driver performance.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Financial Overview</a:t>
            </a:r>
            <a:r>
              <a:rPr lang="en-US" sz="2400" b="1" i="0" dirty="0">
                <a:solidFill>
                  <a:srgbClr val="DEFF9A"/>
                </a:solidFill>
                <a:effectLst/>
                <a:latin typeface="Urbanist" panose="020B0604020202020204" charset="0"/>
              </a:rPr>
              <a:t>:</a:t>
            </a:r>
            <a:r>
              <a:rPr lang="en-US" sz="2400" b="0" i="0" dirty="0">
                <a:solidFill>
                  <a:srgbClr val="E0E0E0"/>
                </a:solidFill>
                <a:effectLst/>
                <a:latin typeface="Urbanist" panose="020B0604020202020204" charset="0"/>
              </a:rPr>
              <a:t>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Urbanist" panose="020B0604020202020204" charset="0"/>
              </a:rPr>
              <a:t>Analyze revenue trends, tip percentages, and payment type distribution</a:t>
            </a:r>
            <a:r>
              <a:rPr lang="en-US" sz="2400" b="0" i="0" dirty="0">
                <a:solidFill>
                  <a:srgbClr val="E0E0E0"/>
                </a:solidFill>
                <a:effectLst/>
                <a:latin typeface="Urbanist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4690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56D73-5E50-8E2E-132A-180F8BC8096B}"/>
              </a:ext>
            </a:extLst>
          </p:cNvPr>
          <p:cNvSpPr txBox="1"/>
          <p:nvPr/>
        </p:nvSpPr>
        <p:spPr>
          <a:xfrm>
            <a:off x="189186" y="-385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3600" b="1" dirty="0">
                <a:solidFill>
                  <a:srgbClr val="DEFF9A"/>
                </a:solidFill>
                <a:latin typeface="Urbanist" panose="020B0604020202020204" charset="0"/>
              </a:rPr>
              <a:t>Overview</a:t>
            </a:r>
          </a:p>
        </p:txBody>
      </p:sp>
      <p:sp>
        <p:nvSpPr>
          <p:cNvPr id="4" name="Google Shape;173;p18">
            <a:extLst>
              <a:ext uri="{FF2B5EF4-FFF2-40B4-BE49-F238E27FC236}">
                <a16:creationId xmlns:a16="http://schemas.microsoft.com/office/drawing/2014/main" id="{A7B94553-9A43-1E3A-08C0-153361AADF22}"/>
              </a:ext>
            </a:extLst>
          </p:cNvPr>
          <p:cNvSpPr/>
          <p:nvPr/>
        </p:nvSpPr>
        <p:spPr>
          <a:xfrm>
            <a:off x="571500" y="739436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CB8A5B-0BED-C14C-39AB-E3EF1109E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641"/>
            <a:ext cx="12265572" cy="620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7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8FDAF2-B83E-1E38-52DD-CC25BEB1400D}"/>
              </a:ext>
            </a:extLst>
          </p:cNvPr>
          <p:cNvSpPr txBox="1"/>
          <p:nvPr/>
        </p:nvSpPr>
        <p:spPr>
          <a:xfrm>
            <a:off x="476907" y="-525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DEFF9A"/>
                </a:solidFill>
                <a:latin typeface="Urbanist" panose="020B0604020202020204" charset="0"/>
              </a:rPr>
              <a:t>Operations</a:t>
            </a:r>
            <a:endParaRPr lang="en-US" sz="3600" dirty="0">
              <a:solidFill>
                <a:srgbClr val="DEFF9A"/>
              </a:solidFill>
            </a:endParaRPr>
          </a:p>
        </p:txBody>
      </p:sp>
      <p:sp>
        <p:nvSpPr>
          <p:cNvPr id="6" name="Google Shape;173;p18">
            <a:extLst>
              <a:ext uri="{FF2B5EF4-FFF2-40B4-BE49-F238E27FC236}">
                <a16:creationId xmlns:a16="http://schemas.microsoft.com/office/drawing/2014/main" id="{AEEB3E99-A55E-8E61-6F47-116004F432A3}"/>
              </a:ext>
            </a:extLst>
          </p:cNvPr>
          <p:cNvSpPr/>
          <p:nvPr/>
        </p:nvSpPr>
        <p:spPr>
          <a:xfrm>
            <a:off x="476907" y="584254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CC4AE2C-9151-851B-74B9-16804F8B6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302"/>
            <a:ext cx="12228786" cy="625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4600813" y="1973609"/>
            <a:ext cx="299037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72012" y="3650009"/>
            <a:ext cx="28479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 dirty="0">
              <a:solidFill>
                <a:srgbClr val="DEFF9A"/>
              </a:solidFill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786312" y="4575720"/>
            <a:ext cx="4021357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r>
              <a:rPr lang="en-US" sz="2000" dirty="0">
                <a:solidFill>
                  <a:srgbClr val="96B55F"/>
                </a:solidFill>
              </a:rPr>
              <a:t>amrkhaled123555@gmail.com</a:t>
            </a:r>
          </a:p>
          <a:p>
            <a:br>
              <a:rPr lang="en-US" sz="1800" dirty="0">
                <a:solidFill>
                  <a:srgbClr val="92D050"/>
                </a:solidFill>
              </a:rPr>
            </a:br>
            <a:endParaRPr dirty="0">
              <a:solidFill>
                <a:srgbClr val="92D050"/>
              </a:solidFill>
            </a:endParaRPr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2012" y="46492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665A5D-A867-1C41-C442-A74AFF3888A7}"/>
              </a:ext>
            </a:extLst>
          </p:cNvPr>
          <p:cNvSpPr txBox="1"/>
          <p:nvPr/>
        </p:nvSpPr>
        <p:spPr>
          <a:xfrm>
            <a:off x="4900612" y="49679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6B55F"/>
                </a:solidFill>
              </a:rPr>
              <a:t>https://github.com/Amrkhaled74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36AE5-3573-572A-D9EC-28B837A6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836" y="5011291"/>
            <a:ext cx="380952" cy="380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737</Words>
  <Application>Microsoft Office PowerPoint</Application>
  <PresentationFormat>Widescreen</PresentationFormat>
  <Paragraphs>95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Courier New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Amr Khaled</cp:lastModifiedBy>
  <cp:revision>21</cp:revision>
  <dcterms:modified xsi:type="dcterms:W3CDTF">2025-11-21T11:49:14Z</dcterms:modified>
</cp:coreProperties>
</file>